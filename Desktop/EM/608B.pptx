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/>
    <p:restoredTop sz="94694"/>
  </p:normalViewPr>
  <p:slideViewPr>
    <p:cSldViewPr snapToGrid="0">
      <p:cViewPr varScale="1">
        <p:scale>
          <a:sx n="37" d="100"/>
          <a:sy n="37" d="100"/>
        </p:scale>
        <p:origin x="208" y="2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AF7B3D-B8FF-4F0A-BB57-B1DBCAC5222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DA3A07-C265-4321-BE7D-81E857E011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Best Selling Author:</a:t>
          </a:r>
          <a:r>
            <a:rPr lang="en-IN" dirty="0"/>
            <a:t> Pink writes on business, behaviour, and motivation, combining social science and business studies.</a:t>
          </a:r>
          <a:endParaRPr lang="en-US" dirty="0"/>
        </a:p>
      </dgm:t>
    </dgm:pt>
    <dgm:pt modelId="{741C1207-F9AC-48C7-AACE-CF0C45DA90DA}" type="parTrans" cxnId="{79778A8D-E0B1-4A7E-8B1C-211F3C32FC98}">
      <dgm:prSet/>
      <dgm:spPr/>
      <dgm:t>
        <a:bodyPr/>
        <a:lstStyle/>
        <a:p>
          <a:endParaRPr lang="en-US"/>
        </a:p>
      </dgm:t>
    </dgm:pt>
    <dgm:pt modelId="{6256C867-C116-4E32-ACED-6913E44D4C7C}" type="sibTrans" cxnId="{79778A8D-E0B1-4A7E-8B1C-211F3C32FC98}">
      <dgm:prSet/>
      <dgm:spPr/>
      <dgm:t>
        <a:bodyPr/>
        <a:lstStyle/>
        <a:p>
          <a:endParaRPr lang="en-US"/>
        </a:p>
      </dgm:t>
    </dgm:pt>
    <dgm:pt modelId="{ADE7B1EA-1200-41AB-94E9-D84B36CDEE7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Credibility: His work combines insights from social science and business studies. His work draws from psychology, economics, and organizational behaviour research.</a:t>
          </a:r>
          <a:endParaRPr lang="en-US" dirty="0"/>
        </a:p>
      </dgm:t>
    </dgm:pt>
    <dgm:pt modelId="{14BDB360-53DC-4435-A470-6BE32D1FD38A}" type="parTrans" cxnId="{2D36FEB1-1E5B-40CD-92D4-759C3D2CF0D2}">
      <dgm:prSet/>
      <dgm:spPr/>
      <dgm:t>
        <a:bodyPr/>
        <a:lstStyle/>
        <a:p>
          <a:endParaRPr lang="en-US"/>
        </a:p>
      </dgm:t>
    </dgm:pt>
    <dgm:pt modelId="{8C836A50-DC9B-42C2-A10F-F1A437981E24}" type="sibTrans" cxnId="{2D36FEB1-1E5B-40CD-92D4-759C3D2CF0D2}">
      <dgm:prSet/>
      <dgm:spPr/>
      <dgm:t>
        <a:bodyPr/>
        <a:lstStyle/>
        <a:p>
          <a:endParaRPr lang="en-US"/>
        </a:p>
      </dgm:t>
    </dgm:pt>
    <dgm:pt modelId="{60709A19-9E7D-4FA3-8966-C8C509D312A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Pink makes complex psychological concepts practical for modern professionals.</a:t>
          </a:r>
          <a:endParaRPr lang="en-US" dirty="0"/>
        </a:p>
      </dgm:t>
    </dgm:pt>
    <dgm:pt modelId="{0A85F0E1-EFBA-47D4-B32E-19D753A30650}" type="parTrans" cxnId="{20D9D77D-87F4-4216-9857-540E6DC1D306}">
      <dgm:prSet/>
      <dgm:spPr/>
      <dgm:t>
        <a:bodyPr/>
        <a:lstStyle/>
        <a:p>
          <a:endParaRPr lang="en-US"/>
        </a:p>
      </dgm:t>
    </dgm:pt>
    <dgm:pt modelId="{91E3AD9C-7311-43DA-AE19-D9BEAFFE5276}" type="sibTrans" cxnId="{20D9D77D-87F4-4216-9857-540E6DC1D306}">
      <dgm:prSet/>
      <dgm:spPr/>
      <dgm:t>
        <a:bodyPr/>
        <a:lstStyle/>
        <a:p>
          <a:endParaRPr lang="en-US"/>
        </a:p>
      </dgm:t>
    </dgm:pt>
    <dgm:pt modelId="{CA048063-68A6-4B7D-987C-C75286D4032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He is Known for "Drive" (motivation) and "A Whole New Mind" (creativity).</a:t>
          </a:r>
          <a:endParaRPr lang="en-US" dirty="0"/>
        </a:p>
      </dgm:t>
    </dgm:pt>
    <dgm:pt modelId="{76B5F14B-7C77-4B42-95FF-0E33C2D0CA7C}" type="parTrans" cxnId="{D5CA3781-10B8-4936-AB10-E5C8F00C52E6}">
      <dgm:prSet/>
      <dgm:spPr/>
      <dgm:t>
        <a:bodyPr/>
        <a:lstStyle/>
        <a:p>
          <a:endParaRPr lang="en-US"/>
        </a:p>
      </dgm:t>
    </dgm:pt>
    <dgm:pt modelId="{B1B348C3-1F15-429F-81ED-629F6BF75132}" type="sibTrans" cxnId="{D5CA3781-10B8-4936-AB10-E5C8F00C52E6}">
      <dgm:prSet/>
      <dgm:spPr/>
      <dgm:t>
        <a:bodyPr/>
        <a:lstStyle/>
        <a:p>
          <a:endParaRPr lang="en-US"/>
        </a:p>
      </dgm:t>
    </dgm:pt>
    <dgm:pt modelId="{F24D8060-74B2-414A-B78A-C2A5C7521598}" type="pres">
      <dgm:prSet presAssocID="{2EAF7B3D-B8FF-4F0A-BB57-B1DBCAC5222E}" presName="root" presStyleCnt="0">
        <dgm:presLayoutVars>
          <dgm:dir/>
          <dgm:resizeHandles val="exact"/>
        </dgm:presLayoutVars>
      </dgm:prSet>
      <dgm:spPr/>
    </dgm:pt>
    <dgm:pt modelId="{48C54CF5-06AF-436D-A793-F338D3A12E3F}" type="pres">
      <dgm:prSet presAssocID="{14DA3A07-C265-4321-BE7D-81E857E01151}" presName="compNode" presStyleCnt="0"/>
      <dgm:spPr/>
    </dgm:pt>
    <dgm:pt modelId="{BAF494A7-6CD5-4D57-92A5-3D3E5AB105C6}" type="pres">
      <dgm:prSet presAssocID="{14DA3A07-C265-4321-BE7D-81E857E01151}" presName="bgRect" presStyleLbl="bgShp" presStyleIdx="0" presStyleCnt="4"/>
      <dgm:spPr/>
    </dgm:pt>
    <dgm:pt modelId="{8B82A6F1-3071-48B0-A92B-32BCEB6985B2}" type="pres">
      <dgm:prSet presAssocID="{14DA3A07-C265-4321-BE7D-81E857E0115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2592D327-0309-4351-905C-1480B560C675}" type="pres">
      <dgm:prSet presAssocID="{14DA3A07-C265-4321-BE7D-81E857E01151}" presName="spaceRect" presStyleCnt="0"/>
      <dgm:spPr/>
    </dgm:pt>
    <dgm:pt modelId="{238266F7-285D-4CD1-9821-DC6153C03C9E}" type="pres">
      <dgm:prSet presAssocID="{14DA3A07-C265-4321-BE7D-81E857E01151}" presName="parTx" presStyleLbl="revTx" presStyleIdx="0" presStyleCnt="4">
        <dgm:presLayoutVars>
          <dgm:chMax val="0"/>
          <dgm:chPref val="0"/>
        </dgm:presLayoutVars>
      </dgm:prSet>
      <dgm:spPr/>
    </dgm:pt>
    <dgm:pt modelId="{664C55A4-7B4F-443B-B589-78226A99633A}" type="pres">
      <dgm:prSet presAssocID="{6256C867-C116-4E32-ACED-6913E44D4C7C}" presName="sibTrans" presStyleCnt="0"/>
      <dgm:spPr/>
    </dgm:pt>
    <dgm:pt modelId="{20638D96-581E-40CE-83C4-34D75E184519}" type="pres">
      <dgm:prSet presAssocID="{ADE7B1EA-1200-41AB-94E9-D84B36CDEE7C}" presName="compNode" presStyleCnt="0"/>
      <dgm:spPr/>
    </dgm:pt>
    <dgm:pt modelId="{D90C6178-A580-4370-8B0A-68CA8FA63939}" type="pres">
      <dgm:prSet presAssocID="{ADE7B1EA-1200-41AB-94E9-D84B36CDEE7C}" presName="bgRect" presStyleLbl="bgShp" presStyleIdx="1" presStyleCnt="4"/>
      <dgm:spPr/>
    </dgm:pt>
    <dgm:pt modelId="{584E6664-6672-4A0D-9532-AFEC53713E91}" type="pres">
      <dgm:prSet presAssocID="{ADE7B1EA-1200-41AB-94E9-D84B36CDEE7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04D80509-6AE3-4407-91C8-2F64ED00EF1F}" type="pres">
      <dgm:prSet presAssocID="{ADE7B1EA-1200-41AB-94E9-D84B36CDEE7C}" presName="spaceRect" presStyleCnt="0"/>
      <dgm:spPr/>
    </dgm:pt>
    <dgm:pt modelId="{7E7523C4-8BD0-4236-AFC9-88AF773D7126}" type="pres">
      <dgm:prSet presAssocID="{ADE7B1EA-1200-41AB-94E9-D84B36CDEE7C}" presName="parTx" presStyleLbl="revTx" presStyleIdx="1" presStyleCnt="4">
        <dgm:presLayoutVars>
          <dgm:chMax val="0"/>
          <dgm:chPref val="0"/>
        </dgm:presLayoutVars>
      </dgm:prSet>
      <dgm:spPr/>
    </dgm:pt>
    <dgm:pt modelId="{4D6168F3-A3B3-4AED-9DC1-D3B704410D2A}" type="pres">
      <dgm:prSet presAssocID="{8C836A50-DC9B-42C2-A10F-F1A437981E24}" presName="sibTrans" presStyleCnt="0"/>
      <dgm:spPr/>
    </dgm:pt>
    <dgm:pt modelId="{E9EC6FD9-7A24-41F1-877F-546EA7B035D1}" type="pres">
      <dgm:prSet presAssocID="{60709A19-9E7D-4FA3-8966-C8C509D312AF}" presName="compNode" presStyleCnt="0"/>
      <dgm:spPr/>
    </dgm:pt>
    <dgm:pt modelId="{2A6BD7C3-8E88-418D-90A1-8D2F530DC325}" type="pres">
      <dgm:prSet presAssocID="{60709A19-9E7D-4FA3-8966-C8C509D312AF}" presName="bgRect" presStyleLbl="bgShp" presStyleIdx="2" presStyleCnt="4"/>
      <dgm:spPr/>
    </dgm:pt>
    <dgm:pt modelId="{6995EBFB-C43F-4C5B-B675-FDD2BA769FDF}" type="pres">
      <dgm:prSet presAssocID="{60709A19-9E7D-4FA3-8966-C8C509D312A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69A797C0-6001-4D0B-9AED-515B568EE77D}" type="pres">
      <dgm:prSet presAssocID="{60709A19-9E7D-4FA3-8966-C8C509D312AF}" presName="spaceRect" presStyleCnt="0"/>
      <dgm:spPr/>
    </dgm:pt>
    <dgm:pt modelId="{E749F93B-7893-462E-9F2E-5ED2FEBB716D}" type="pres">
      <dgm:prSet presAssocID="{60709A19-9E7D-4FA3-8966-C8C509D312AF}" presName="parTx" presStyleLbl="revTx" presStyleIdx="2" presStyleCnt="4">
        <dgm:presLayoutVars>
          <dgm:chMax val="0"/>
          <dgm:chPref val="0"/>
        </dgm:presLayoutVars>
      </dgm:prSet>
      <dgm:spPr/>
    </dgm:pt>
    <dgm:pt modelId="{442E692D-26B4-470F-A4C4-11F3180C4B72}" type="pres">
      <dgm:prSet presAssocID="{91E3AD9C-7311-43DA-AE19-D9BEAFFE5276}" presName="sibTrans" presStyleCnt="0"/>
      <dgm:spPr/>
    </dgm:pt>
    <dgm:pt modelId="{9EE1E8D0-291D-4EAF-BF19-DE9F9BF95AE5}" type="pres">
      <dgm:prSet presAssocID="{CA048063-68A6-4B7D-987C-C75286D4032C}" presName="compNode" presStyleCnt="0"/>
      <dgm:spPr/>
    </dgm:pt>
    <dgm:pt modelId="{802AA1DC-7B83-4546-BFFC-7E8F9B7452E7}" type="pres">
      <dgm:prSet presAssocID="{CA048063-68A6-4B7D-987C-C75286D4032C}" presName="bgRect" presStyleLbl="bgShp" presStyleIdx="3" presStyleCnt="4"/>
      <dgm:spPr/>
    </dgm:pt>
    <dgm:pt modelId="{743B6EA5-F836-492C-A207-A97B774A9105}" type="pres">
      <dgm:prSet presAssocID="{CA048063-68A6-4B7D-987C-C75286D4032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E1644766-FDF9-4C74-B130-4AF4C0FA6580}" type="pres">
      <dgm:prSet presAssocID="{CA048063-68A6-4B7D-987C-C75286D4032C}" presName="spaceRect" presStyleCnt="0"/>
      <dgm:spPr/>
    </dgm:pt>
    <dgm:pt modelId="{4D3EDBED-7CB7-43ED-8A8A-B53CB1418A81}" type="pres">
      <dgm:prSet presAssocID="{CA048063-68A6-4B7D-987C-C75286D4032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9BE7B00-DCAD-4905-A333-60CDD149B663}" type="presOf" srcId="{14DA3A07-C265-4321-BE7D-81E857E01151}" destId="{238266F7-285D-4CD1-9821-DC6153C03C9E}" srcOrd="0" destOrd="0" presId="urn:microsoft.com/office/officeart/2018/2/layout/IconVerticalSolidList"/>
    <dgm:cxn modelId="{A529BD18-91C1-4992-B944-8A0D884C382E}" type="presOf" srcId="{60709A19-9E7D-4FA3-8966-C8C509D312AF}" destId="{E749F93B-7893-462E-9F2E-5ED2FEBB716D}" srcOrd="0" destOrd="0" presId="urn:microsoft.com/office/officeart/2018/2/layout/IconVerticalSolidList"/>
    <dgm:cxn modelId="{CB451B6F-8C77-44A3-B40D-5B84F3517558}" type="presOf" srcId="{CA048063-68A6-4B7D-987C-C75286D4032C}" destId="{4D3EDBED-7CB7-43ED-8A8A-B53CB1418A81}" srcOrd="0" destOrd="0" presId="urn:microsoft.com/office/officeart/2018/2/layout/IconVerticalSolidList"/>
    <dgm:cxn modelId="{A0F2C37C-1AF0-4FA4-9D1D-157DBB85F3E1}" type="presOf" srcId="{ADE7B1EA-1200-41AB-94E9-D84B36CDEE7C}" destId="{7E7523C4-8BD0-4236-AFC9-88AF773D7126}" srcOrd="0" destOrd="0" presId="urn:microsoft.com/office/officeart/2018/2/layout/IconVerticalSolidList"/>
    <dgm:cxn modelId="{20D9D77D-87F4-4216-9857-540E6DC1D306}" srcId="{2EAF7B3D-B8FF-4F0A-BB57-B1DBCAC5222E}" destId="{60709A19-9E7D-4FA3-8966-C8C509D312AF}" srcOrd="2" destOrd="0" parTransId="{0A85F0E1-EFBA-47D4-B32E-19D753A30650}" sibTransId="{91E3AD9C-7311-43DA-AE19-D9BEAFFE5276}"/>
    <dgm:cxn modelId="{D5CA3781-10B8-4936-AB10-E5C8F00C52E6}" srcId="{2EAF7B3D-B8FF-4F0A-BB57-B1DBCAC5222E}" destId="{CA048063-68A6-4B7D-987C-C75286D4032C}" srcOrd="3" destOrd="0" parTransId="{76B5F14B-7C77-4B42-95FF-0E33C2D0CA7C}" sibTransId="{B1B348C3-1F15-429F-81ED-629F6BF75132}"/>
    <dgm:cxn modelId="{C1654488-9C28-4276-830A-3769120FB146}" type="presOf" srcId="{2EAF7B3D-B8FF-4F0A-BB57-B1DBCAC5222E}" destId="{F24D8060-74B2-414A-B78A-C2A5C7521598}" srcOrd="0" destOrd="0" presId="urn:microsoft.com/office/officeart/2018/2/layout/IconVerticalSolidList"/>
    <dgm:cxn modelId="{79778A8D-E0B1-4A7E-8B1C-211F3C32FC98}" srcId="{2EAF7B3D-B8FF-4F0A-BB57-B1DBCAC5222E}" destId="{14DA3A07-C265-4321-BE7D-81E857E01151}" srcOrd="0" destOrd="0" parTransId="{741C1207-F9AC-48C7-AACE-CF0C45DA90DA}" sibTransId="{6256C867-C116-4E32-ACED-6913E44D4C7C}"/>
    <dgm:cxn modelId="{2D36FEB1-1E5B-40CD-92D4-759C3D2CF0D2}" srcId="{2EAF7B3D-B8FF-4F0A-BB57-B1DBCAC5222E}" destId="{ADE7B1EA-1200-41AB-94E9-D84B36CDEE7C}" srcOrd="1" destOrd="0" parTransId="{14BDB360-53DC-4435-A470-6BE32D1FD38A}" sibTransId="{8C836A50-DC9B-42C2-A10F-F1A437981E24}"/>
    <dgm:cxn modelId="{A6DE7F67-8B6B-47B3-B7BF-9BD0234ADA77}" type="presParOf" srcId="{F24D8060-74B2-414A-B78A-C2A5C7521598}" destId="{48C54CF5-06AF-436D-A793-F338D3A12E3F}" srcOrd="0" destOrd="0" presId="urn:microsoft.com/office/officeart/2018/2/layout/IconVerticalSolidList"/>
    <dgm:cxn modelId="{365C2703-003B-46FF-A5BF-F700E7135628}" type="presParOf" srcId="{48C54CF5-06AF-436D-A793-F338D3A12E3F}" destId="{BAF494A7-6CD5-4D57-92A5-3D3E5AB105C6}" srcOrd="0" destOrd="0" presId="urn:microsoft.com/office/officeart/2018/2/layout/IconVerticalSolidList"/>
    <dgm:cxn modelId="{9E8C3CA6-496F-422F-A03A-ACD5492849FA}" type="presParOf" srcId="{48C54CF5-06AF-436D-A793-F338D3A12E3F}" destId="{8B82A6F1-3071-48B0-A92B-32BCEB6985B2}" srcOrd="1" destOrd="0" presId="urn:microsoft.com/office/officeart/2018/2/layout/IconVerticalSolidList"/>
    <dgm:cxn modelId="{86A73E2C-B887-4442-B6F4-A3F09F5CF279}" type="presParOf" srcId="{48C54CF5-06AF-436D-A793-F338D3A12E3F}" destId="{2592D327-0309-4351-905C-1480B560C675}" srcOrd="2" destOrd="0" presId="urn:microsoft.com/office/officeart/2018/2/layout/IconVerticalSolidList"/>
    <dgm:cxn modelId="{2C0A5A11-69C2-4E24-887D-8E3F812A493B}" type="presParOf" srcId="{48C54CF5-06AF-436D-A793-F338D3A12E3F}" destId="{238266F7-285D-4CD1-9821-DC6153C03C9E}" srcOrd="3" destOrd="0" presId="urn:microsoft.com/office/officeart/2018/2/layout/IconVerticalSolidList"/>
    <dgm:cxn modelId="{B81F97ED-942F-4E3F-9A99-98C6CC4012C2}" type="presParOf" srcId="{F24D8060-74B2-414A-B78A-C2A5C7521598}" destId="{664C55A4-7B4F-443B-B589-78226A99633A}" srcOrd="1" destOrd="0" presId="urn:microsoft.com/office/officeart/2018/2/layout/IconVerticalSolidList"/>
    <dgm:cxn modelId="{12E0293D-E1A2-423C-8CD2-4CE36D380164}" type="presParOf" srcId="{F24D8060-74B2-414A-B78A-C2A5C7521598}" destId="{20638D96-581E-40CE-83C4-34D75E184519}" srcOrd="2" destOrd="0" presId="urn:microsoft.com/office/officeart/2018/2/layout/IconVerticalSolidList"/>
    <dgm:cxn modelId="{E925FB4A-04C2-4322-9D63-767398819040}" type="presParOf" srcId="{20638D96-581E-40CE-83C4-34D75E184519}" destId="{D90C6178-A580-4370-8B0A-68CA8FA63939}" srcOrd="0" destOrd="0" presId="urn:microsoft.com/office/officeart/2018/2/layout/IconVerticalSolidList"/>
    <dgm:cxn modelId="{0EAD0E85-BD61-43DA-976C-931021AFBE95}" type="presParOf" srcId="{20638D96-581E-40CE-83C4-34D75E184519}" destId="{584E6664-6672-4A0D-9532-AFEC53713E91}" srcOrd="1" destOrd="0" presId="urn:microsoft.com/office/officeart/2018/2/layout/IconVerticalSolidList"/>
    <dgm:cxn modelId="{15305455-7576-4E2D-B0B7-5EEDED409BDF}" type="presParOf" srcId="{20638D96-581E-40CE-83C4-34D75E184519}" destId="{04D80509-6AE3-4407-91C8-2F64ED00EF1F}" srcOrd="2" destOrd="0" presId="urn:microsoft.com/office/officeart/2018/2/layout/IconVerticalSolidList"/>
    <dgm:cxn modelId="{E6DCCAAC-0BF2-4F4B-B3F9-FB0C5C2FFC88}" type="presParOf" srcId="{20638D96-581E-40CE-83C4-34D75E184519}" destId="{7E7523C4-8BD0-4236-AFC9-88AF773D7126}" srcOrd="3" destOrd="0" presId="urn:microsoft.com/office/officeart/2018/2/layout/IconVerticalSolidList"/>
    <dgm:cxn modelId="{E161D84A-A15E-4B8B-BA24-C70F11085B34}" type="presParOf" srcId="{F24D8060-74B2-414A-B78A-C2A5C7521598}" destId="{4D6168F3-A3B3-4AED-9DC1-D3B704410D2A}" srcOrd="3" destOrd="0" presId="urn:microsoft.com/office/officeart/2018/2/layout/IconVerticalSolidList"/>
    <dgm:cxn modelId="{DAE3E204-E29E-4246-85F5-227449208712}" type="presParOf" srcId="{F24D8060-74B2-414A-B78A-C2A5C7521598}" destId="{E9EC6FD9-7A24-41F1-877F-546EA7B035D1}" srcOrd="4" destOrd="0" presId="urn:microsoft.com/office/officeart/2018/2/layout/IconVerticalSolidList"/>
    <dgm:cxn modelId="{42F09669-93E4-4F62-B0DC-6FC99765FCF0}" type="presParOf" srcId="{E9EC6FD9-7A24-41F1-877F-546EA7B035D1}" destId="{2A6BD7C3-8E88-418D-90A1-8D2F530DC325}" srcOrd="0" destOrd="0" presId="urn:microsoft.com/office/officeart/2018/2/layout/IconVerticalSolidList"/>
    <dgm:cxn modelId="{449D7901-00B7-4E66-B9DF-59D811913FA2}" type="presParOf" srcId="{E9EC6FD9-7A24-41F1-877F-546EA7B035D1}" destId="{6995EBFB-C43F-4C5B-B675-FDD2BA769FDF}" srcOrd="1" destOrd="0" presId="urn:microsoft.com/office/officeart/2018/2/layout/IconVerticalSolidList"/>
    <dgm:cxn modelId="{E4C21D69-CA9C-4774-B335-C235FD5ACB83}" type="presParOf" srcId="{E9EC6FD9-7A24-41F1-877F-546EA7B035D1}" destId="{69A797C0-6001-4D0B-9AED-515B568EE77D}" srcOrd="2" destOrd="0" presId="urn:microsoft.com/office/officeart/2018/2/layout/IconVerticalSolidList"/>
    <dgm:cxn modelId="{F8A31715-F923-4884-82D4-3FF500B2DA0A}" type="presParOf" srcId="{E9EC6FD9-7A24-41F1-877F-546EA7B035D1}" destId="{E749F93B-7893-462E-9F2E-5ED2FEBB716D}" srcOrd="3" destOrd="0" presId="urn:microsoft.com/office/officeart/2018/2/layout/IconVerticalSolidList"/>
    <dgm:cxn modelId="{EC61FBC2-44EF-4EBE-8223-268DBC42DB21}" type="presParOf" srcId="{F24D8060-74B2-414A-B78A-C2A5C7521598}" destId="{442E692D-26B4-470F-A4C4-11F3180C4B72}" srcOrd="5" destOrd="0" presId="urn:microsoft.com/office/officeart/2018/2/layout/IconVerticalSolidList"/>
    <dgm:cxn modelId="{7714D4B4-B690-450A-9817-2752B9CFFEFE}" type="presParOf" srcId="{F24D8060-74B2-414A-B78A-C2A5C7521598}" destId="{9EE1E8D0-291D-4EAF-BF19-DE9F9BF95AE5}" srcOrd="6" destOrd="0" presId="urn:microsoft.com/office/officeart/2018/2/layout/IconVerticalSolidList"/>
    <dgm:cxn modelId="{EABD901F-9D76-49C1-A55B-38CB76CB9537}" type="presParOf" srcId="{9EE1E8D0-291D-4EAF-BF19-DE9F9BF95AE5}" destId="{802AA1DC-7B83-4546-BFFC-7E8F9B7452E7}" srcOrd="0" destOrd="0" presId="urn:microsoft.com/office/officeart/2018/2/layout/IconVerticalSolidList"/>
    <dgm:cxn modelId="{97820F22-C8F4-40A9-9D98-A3B553C5969D}" type="presParOf" srcId="{9EE1E8D0-291D-4EAF-BF19-DE9F9BF95AE5}" destId="{743B6EA5-F836-492C-A207-A97B774A9105}" srcOrd="1" destOrd="0" presId="urn:microsoft.com/office/officeart/2018/2/layout/IconVerticalSolidList"/>
    <dgm:cxn modelId="{2E567F4E-29D8-4854-B7D3-8D53A78A71F1}" type="presParOf" srcId="{9EE1E8D0-291D-4EAF-BF19-DE9F9BF95AE5}" destId="{E1644766-FDF9-4C74-B130-4AF4C0FA6580}" srcOrd="2" destOrd="0" presId="urn:microsoft.com/office/officeart/2018/2/layout/IconVerticalSolidList"/>
    <dgm:cxn modelId="{2E95E31A-8C07-4136-8459-1152D61C057E}" type="presParOf" srcId="{9EE1E8D0-291D-4EAF-BF19-DE9F9BF95AE5}" destId="{4D3EDBED-7CB7-43ED-8A8A-B53CB1418A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F494A7-6CD5-4D57-92A5-3D3E5AB105C6}">
      <dsp:nvSpPr>
        <dsp:cNvPr id="0" name=""/>
        <dsp:cNvSpPr/>
      </dsp:nvSpPr>
      <dsp:spPr>
        <a:xfrm>
          <a:off x="0" y="1728"/>
          <a:ext cx="10058399" cy="8760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82A6F1-3071-48B0-A92B-32BCEB6985B2}">
      <dsp:nvSpPr>
        <dsp:cNvPr id="0" name=""/>
        <dsp:cNvSpPr/>
      </dsp:nvSpPr>
      <dsp:spPr>
        <a:xfrm>
          <a:off x="265009" y="198843"/>
          <a:ext cx="481835" cy="4818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8266F7-285D-4CD1-9821-DC6153C03C9E}">
      <dsp:nvSpPr>
        <dsp:cNvPr id="0" name=""/>
        <dsp:cNvSpPr/>
      </dsp:nvSpPr>
      <dsp:spPr>
        <a:xfrm>
          <a:off x="1011854" y="1728"/>
          <a:ext cx="9046545" cy="876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17" tIns="92717" rIns="92717" bIns="9271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Best Selling Author:</a:t>
          </a:r>
          <a:r>
            <a:rPr lang="en-IN" sz="1800" kern="1200" dirty="0"/>
            <a:t> Pink writes on business, behaviour, and motivation, combining social science and business studies.</a:t>
          </a:r>
          <a:endParaRPr lang="en-US" sz="1800" kern="1200" dirty="0"/>
        </a:p>
      </dsp:txBody>
      <dsp:txXfrm>
        <a:off x="1011854" y="1728"/>
        <a:ext cx="9046545" cy="876064"/>
      </dsp:txXfrm>
    </dsp:sp>
    <dsp:sp modelId="{D90C6178-A580-4370-8B0A-68CA8FA63939}">
      <dsp:nvSpPr>
        <dsp:cNvPr id="0" name=""/>
        <dsp:cNvSpPr/>
      </dsp:nvSpPr>
      <dsp:spPr>
        <a:xfrm>
          <a:off x="0" y="1096809"/>
          <a:ext cx="10058399" cy="8760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E6664-6672-4A0D-9532-AFEC53713E91}">
      <dsp:nvSpPr>
        <dsp:cNvPr id="0" name=""/>
        <dsp:cNvSpPr/>
      </dsp:nvSpPr>
      <dsp:spPr>
        <a:xfrm>
          <a:off x="265009" y="1293924"/>
          <a:ext cx="481835" cy="4818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523C4-8BD0-4236-AFC9-88AF773D7126}">
      <dsp:nvSpPr>
        <dsp:cNvPr id="0" name=""/>
        <dsp:cNvSpPr/>
      </dsp:nvSpPr>
      <dsp:spPr>
        <a:xfrm>
          <a:off x="1011854" y="1096809"/>
          <a:ext cx="9046545" cy="876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17" tIns="92717" rIns="92717" bIns="9271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Credibility: His work combines insights from social science and business studies. His work draws from psychology, economics, and organizational behaviour research.</a:t>
          </a:r>
          <a:endParaRPr lang="en-US" sz="1800" kern="1200" dirty="0"/>
        </a:p>
      </dsp:txBody>
      <dsp:txXfrm>
        <a:off x="1011854" y="1096809"/>
        <a:ext cx="9046545" cy="876064"/>
      </dsp:txXfrm>
    </dsp:sp>
    <dsp:sp modelId="{2A6BD7C3-8E88-418D-90A1-8D2F530DC325}">
      <dsp:nvSpPr>
        <dsp:cNvPr id="0" name=""/>
        <dsp:cNvSpPr/>
      </dsp:nvSpPr>
      <dsp:spPr>
        <a:xfrm>
          <a:off x="0" y="2191890"/>
          <a:ext cx="10058399" cy="8760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95EBFB-C43F-4C5B-B675-FDD2BA769FDF}">
      <dsp:nvSpPr>
        <dsp:cNvPr id="0" name=""/>
        <dsp:cNvSpPr/>
      </dsp:nvSpPr>
      <dsp:spPr>
        <a:xfrm>
          <a:off x="265009" y="2389005"/>
          <a:ext cx="481835" cy="4818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9F93B-7893-462E-9F2E-5ED2FEBB716D}">
      <dsp:nvSpPr>
        <dsp:cNvPr id="0" name=""/>
        <dsp:cNvSpPr/>
      </dsp:nvSpPr>
      <dsp:spPr>
        <a:xfrm>
          <a:off x="1011854" y="2191890"/>
          <a:ext cx="9046545" cy="876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17" tIns="92717" rIns="92717" bIns="9271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Pink makes complex psychological concepts practical for modern professionals.</a:t>
          </a:r>
          <a:endParaRPr lang="en-US" sz="1800" kern="1200" dirty="0"/>
        </a:p>
      </dsp:txBody>
      <dsp:txXfrm>
        <a:off x="1011854" y="2191890"/>
        <a:ext cx="9046545" cy="876064"/>
      </dsp:txXfrm>
    </dsp:sp>
    <dsp:sp modelId="{802AA1DC-7B83-4546-BFFC-7E8F9B7452E7}">
      <dsp:nvSpPr>
        <dsp:cNvPr id="0" name=""/>
        <dsp:cNvSpPr/>
      </dsp:nvSpPr>
      <dsp:spPr>
        <a:xfrm>
          <a:off x="0" y="3286971"/>
          <a:ext cx="10058399" cy="8760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3B6EA5-F836-492C-A207-A97B774A9105}">
      <dsp:nvSpPr>
        <dsp:cNvPr id="0" name=""/>
        <dsp:cNvSpPr/>
      </dsp:nvSpPr>
      <dsp:spPr>
        <a:xfrm>
          <a:off x="265009" y="3484086"/>
          <a:ext cx="481835" cy="4818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3EDBED-7CB7-43ED-8A8A-B53CB1418A81}">
      <dsp:nvSpPr>
        <dsp:cNvPr id="0" name=""/>
        <dsp:cNvSpPr/>
      </dsp:nvSpPr>
      <dsp:spPr>
        <a:xfrm>
          <a:off x="1011854" y="3286971"/>
          <a:ext cx="9046545" cy="876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17" tIns="92717" rIns="92717" bIns="9271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He is Known for "Drive" (motivation) and "A Whole New Mind" (creativity).</a:t>
          </a:r>
          <a:endParaRPr lang="en-US" sz="1800" kern="1200" dirty="0"/>
        </a:p>
      </dsp:txBody>
      <dsp:txXfrm>
        <a:off x="1011854" y="3286971"/>
        <a:ext cx="9046545" cy="8760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10/10/24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199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10/10/24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60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10/10/24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12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10/10/24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34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10/10/24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195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10/10/24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259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10/10/24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801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10/10/24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2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10/10/24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524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10/10/24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47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10/10/24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4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10/10/24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8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40" r:id="rId4"/>
    <p:sldLayoutId id="2147483741" r:id="rId5"/>
    <p:sldLayoutId id="2147483747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B5494BB-3B67-AD70-4B18-253D751C9F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614" b="4136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5" y="0"/>
            <a:ext cx="6525472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2663" y="320040"/>
            <a:ext cx="5888736" cy="6217920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E4688-E945-10F1-5BCD-23D74B301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297" y="1348844"/>
            <a:ext cx="5409468" cy="3042706"/>
          </a:xfrm>
        </p:spPr>
        <p:txBody>
          <a:bodyPr>
            <a:normAutofit/>
          </a:bodyPr>
          <a:lstStyle/>
          <a:p>
            <a:r>
              <a:rPr lang="en-IN" sz="4200" b="1" dirty="0">
                <a:solidFill>
                  <a:schemeClr val="tx1"/>
                </a:solidFill>
              </a:rPr>
              <a:t>To Sell Is Human: The New ABCs of Moving Others</a:t>
            </a:r>
            <a:br>
              <a:rPr lang="en-IN" sz="4200" b="1" dirty="0">
                <a:solidFill>
                  <a:schemeClr val="tx1"/>
                </a:solidFill>
              </a:rPr>
            </a:br>
            <a:endParaRPr lang="en-US" sz="42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F539B-CDE5-0511-310E-23041262D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297" y="4682061"/>
            <a:ext cx="5409468" cy="9509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Group 1</a:t>
            </a:r>
          </a:p>
        </p:txBody>
      </p:sp>
    </p:spTree>
    <p:extLst>
      <p:ext uri="{BB962C8B-B14F-4D97-AF65-F5344CB8AC3E}">
        <p14:creationId xmlns:p14="http://schemas.microsoft.com/office/powerpoint/2010/main" val="33048738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419E3D9-C5FB-41A9-B6D2-DFB210BB6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67909BF-1DF7-4ACE-8F58-6CF719BB2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9E8BEDB-0BBC-4F21-9CFB-8530D664C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1D6D676-6F2F-4446-9935-2D8D03821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9BAEA2B-9C25-4B43-8C9A-A9D0C3E9B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1FC5F3A-7F1A-4EE8-A913-C8E96ACC3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420551B3-B4DA-48EE-988C-4FAEAEB5C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643B7E8-B361-4A91-A7A5-07418CFCF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A74E93-DAA8-4661-8F23-0F48710EA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6269159" cy="557107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FF212E38-C041-49D9-9236-29FF44B27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16" y="809244"/>
            <a:ext cx="5943600" cy="5239512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997210-E8D2-1E6F-F316-7D8093AD8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632" y="1559769"/>
            <a:ext cx="5068568" cy="158833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ct val="83000"/>
              </a:lnSpc>
            </a:pPr>
            <a:r>
              <a:rPr lang="en-US" sz="6000" cap="all" spc="-100" dirty="0"/>
              <a:t>About the Book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90391D1-AA86-467F-A77E-0606FCCCD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7796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A430F17-C7B1-40FD-89FA-55002B663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32096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3EAAD29-514C-4272-AA97-D2DCEB35B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23736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080894D-F290-4DF4-82A7-905285A7E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32096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Reading a book and drinking coffee on the table">
            <a:extLst>
              <a:ext uri="{FF2B5EF4-FFF2-40B4-BE49-F238E27FC236}">
                <a16:creationId xmlns:a16="http://schemas.microsoft.com/office/drawing/2014/main" id="{29E6EB3B-7CBE-5F06-1501-A04C2FCE0E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41" r="26634" b="-1"/>
          <a:stretch/>
        </p:blipFill>
        <p:spPr>
          <a:xfrm>
            <a:off x="7555832" y="10"/>
            <a:ext cx="4636163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DE2C78-D92A-2B1D-6BF8-A4D0BF2E9837}"/>
              </a:ext>
            </a:extLst>
          </p:cNvPr>
          <p:cNvSpPr txBox="1"/>
          <p:nvPr/>
        </p:nvSpPr>
        <p:spPr>
          <a:xfrm>
            <a:off x="1383314" y="3313879"/>
            <a:ext cx="53434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Daniel H. Pink's book explores how everyone engages in sales, even without a formal sales title. It offers insights on persuasion, influence, and moving others in modern professional environments.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24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53B7B-FB71-6E16-552B-ED45B3E9A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Daniel H. Pink’s Background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ACBC42-A3F8-A8EB-D7AE-DDAB2C7DE0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1040265"/>
              </p:ext>
            </p:extLst>
          </p:nvPr>
        </p:nvGraphicFramePr>
        <p:xfrm>
          <a:off x="1066800" y="1787979"/>
          <a:ext cx="10058400" cy="4164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2101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046FE-2813-B399-2EED-5DA8DF88C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Why Follow Pink's Advice?</a:t>
            </a:r>
            <a:br>
              <a:rPr lang="en-IN" b="1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54382B-6C11-E5C1-4F09-BC5D2AED78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2397761"/>
            <a:ext cx="10058400" cy="2895600"/>
          </a:xfrm>
        </p:spPr>
      </p:pic>
    </p:spTree>
    <p:extLst>
      <p:ext uri="{BB962C8B-B14F-4D97-AF65-F5344CB8AC3E}">
        <p14:creationId xmlns:p14="http://schemas.microsoft.com/office/powerpoint/2010/main" val="1121506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419E3D9-C5FB-41A9-B6D2-DFB210BB6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7909BF-1DF7-4ACE-8F58-6CF719BB2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E8BEDB-0BBC-4F21-9CFB-8530D664C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1D6D676-6F2F-4446-9935-2D8D03821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BAEA2B-9C25-4B43-8C9A-A9D0C3E9B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1FC5F3A-7F1A-4EE8-A913-C8E96ACC3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20551B3-B4DA-48EE-988C-4FAEAEB5C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2BB265-5748-0ACA-8C91-50140E84CC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/>
          <a:stretch/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24000"/>
                </a:schemeClr>
              </a:gs>
              <a:gs pos="85000">
                <a:schemeClr val="tx1">
                  <a:alpha val="4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4B23FB-B403-51BC-8E44-4DABC05D4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643467"/>
            <a:ext cx="5452529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3000"/>
              </a:lnSpc>
            </a:pPr>
            <a:r>
              <a:rPr lang="en-US" sz="6000" cap="all" spc="-100">
                <a:solidFill>
                  <a:schemeClr val="bg1"/>
                </a:solidFill>
              </a:rPr>
              <a:t>Lessons Learned from the book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731935" y="1397930"/>
            <a:ext cx="6858003" cy="4062128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24000"/>
                </a:schemeClr>
              </a:gs>
              <a:gs pos="85000">
                <a:schemeClr val="tx1">
                  <a:alpha val="4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37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2E3493C-9EE5-40C5-9902-4A0416374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3C2DD8-0EC6-4B41-91E6-4A8E336AF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A group of people sitting at desks&#10;&#10;Description automatically generated">
            <a:extLst>
              <a:ext uri="{FF2B5EF4-FFF2-40B4-BE49-F238E27FC236}">
                <a16:creationId xmlns:a16="http://schemas.microsoft.com/office/drawing/2014/main" id="{9D8D9FA8-1CBE-BC87-851A-92DF267977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7" r="2386" b="-2"/>
          <a:stretch/>
        </p:blipFill>
        <p:spPr>
          <a:xfrm>
            <a:off x="234696" y="237744"/>
            <a:ext cx="3996183" cy="638251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5E3F933-FC69-4374-A35F-CF4036537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494" y="374904"/>
            <a:ext cx="7440649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CD08C-55EC-2D04-00C4-DC2DFA57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192" y="642593"/>
            <a:ext cx="6280826" cy="1746504"/>
          </a:xfrm>
        </p:spPr>
        <p:txBody>
          <a:bodyPr>
            <a:normAutofit/>
          </a:bodyPr>
          <a:lstStyle/>
          <a:p>
            <a:r>
              <a:rPr lang="en-IN" b="1" dirty="0"/>
              <a:t>We're All in Sales Now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DCC21-6401-8193-9C00-B57A34DED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2386584"/>
            <a:ext cx="6280826" cy="364845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300" b="1" dirty="0"/>
              <a:t>Universal Selling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300" dirty="0"/>
              <a:t>Everyone engages in persuasion and influence daily, regardless of job title.</a:t>
            </a:r>
          </a:p>
          <a:p>
            <a:pPr>
              <a:lnSpc>
                <a:spcPct val="100000"/>
              </a:lnSpc>
            </a:pPr>
            <a:endParaRPr lang="en-US" sz="1300" dirty="0"/>
          </a:p>
          <a:p>
            <a:pPr>
              <a:lnSpc>
                <a:spcPct val="100000"/>
              </a:lnSpc>
            </a:pPr>
            <a:endParaRPr lang="en-US" sz="1300" dirty="0"/>
          </a:p>
          <a:p>
            <a:pPr>
              <a:lnSpc>
                <a:spcPct val="100000"/>
              </a:lnSpc>
            </a:pPr>
            <a:r>
              <a:rPr lang="en-IN" sz="1300" b="1" dirty="0"/>
              <a:t>Non-Sales Selling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300" dirty="0"/>
              <a:t>Modern selling involves moving others through influence, inspiration, and teaching.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>
              <a:lnSpc>
                <a:spcPct val="100000"/>
              </a:lnSpc>
            </a:pPr>
            <a:r>
              <a:rPr lang="en-IN" sz="1300" b="1" dirty="0"/>
              <a:t>Shift in Sales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300" dirty="0"/>
              <a:t>Traditional "Always Be Closing" replaced by new ABCs of selling.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186003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EE7E08-B389-43E5-B019-1B0A8ACBB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standing together&#10;&#10;Description automatically generated">
            <a:extLst>
              <a:ext uri="{FF2B5EF4-FFF2-40B4-BE49-F238E27FC236}">
                <a16:creationId xmlns:a16="http://schemas.microsoft.com/office/drawing/2014/main" id="{7F55FF51-994F-F89E-3D09-96A1FCF65F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42873"/>
          <a:stretch/>
        </p:blipFill>
        <p:spPr>
          <a:xfrm>
            <a:off x="20" y="10"/>
            <a:ext cx="6392647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60D94A5-8A09-4BAB-8F7C-69BC34C54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21267" y="255102"/>
            <a:ext cx="5342133" cy="6361598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AE32B-3A6E-4C5E-8FEB-73861B9A2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9100" y="393365"/>
            <a:ext cx="5018211" cy="603554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080B1A-F46D-44AF-6B0E-95D4FBDC3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4082" y="642594"/>
            <a:ext cx="4472921" cy="1371600"/>
          </a:xfrm>
        </p:spPr>
        <p:txBody>
          <a:bodyPr>
            <a:normAutofit/>
          </a:bodyPr>
          <a:lstStyle/>
          <a:p>
            <a:r>
              <a:rPr lang="en-IN" sz="3100" b="1"/>
              <a:t>The New ABCs of Selling</a:t>
            </a:r>
            <a:br>
              <a:rPr lang="en-IN" sz="3100" b="1"/>
            </a:br>
            <a:endParaRPr lang="en-US" sz="3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52E8C-4FB8-9E2F-B93A-7CEBDA533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4082" y="2103120"/>
            <a:ext cx="4472922" cy="3931920"/>
          </a:xfrm>
        </p:spPr>
        <p:txBody>
          <a:bodyPr>
            <a:normAutofit/>
          </a:bodyPr>
          <a:lstStyle/>
          <a:p>
            <a:r>
              <a:rPr lang="en-IN" b="1" dirty="0" err="1"/>
              <a:t>Attunement</a:t>
            </a:r>
            <a:endParaRPr lang="en-IN" b="1" dirty="0"/>
          </a:p>
          <a:p>
            <a:pPr marL="0" indent="0">
              <a:buNone/>
            </a:pPr>
            <a:r>
              <a:rPr lang="en-IN" dirty="0"/>
              <a:t>Being in harmony with others, listening and understanding their needs.</a:t>
            </a:r>
          </a:p>
          <a:p>
            <a:endParaRPr lang="en-US" dirty="0"/>
          </a:p>
          <a:p>
            <a:r>
              <a:rPr lang="en-IN" b="1" dirty="0"/>
              <a:t>Buoyancy</a:t>
            </a:r>
          </a:p>
          <a:p>
            <a:pPr marL="0" indent="0">
              <a:buNone/>
            </a:pPr>
            <a:r>
              <a:rPr lang="en-IN" dirty="0"/>
              <a:t>Staying positive and resilient despite rejection.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b="1" dirty="0"/>
              <a:t>Clarity</a:t>
            </a:r>
          </a:p>
          <a:p>
            <a:pPr marL="0" indent="0">
              <a:buNone/>
            </a:pPr>
            <a:r>
              <a:rPr lang="en-IN" dirty="0"/>
              <a:t>Helping others see problems clearly and offering solutions.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27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58A187-A4B1-42EB-A4C7-8635BA507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F14E7F-3054-458C-ACF9-A8DA1757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747C1C-97FC-4D70-A6C8-A01FBCF5A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5CDC370-AE44-4300-98BA-FE204E881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7B15501-CB9A-4642-80EE-2876EF03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FF9525-325F-47B3-A63C-93C12253A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071C0CD-5EFD-45A1-AAFD-61C3D4A65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03302C-20A2-4C4F-9760-E85AE1041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10912338" cy="557107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00F093B-0739-4429-B30D-D72924D08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9702" y="809244"/>
            <a:ext cx="10579608" cy="5239512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31AEDE-380E-80CD-71B5-34ADC48CD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86" y="1446715"/>
            <a:ext cx="9637485" cy="32993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6800" cap="all" spc="-100" dirty="0"/>
              <a:t>Real life experience-ABC’s Used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B92999-6A40-480A-8965-2F20DFB0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640856"/>
            <a:ext cx="1920240" cy="7315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5573B87-7D61-460C-9ADA-EF63674E3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AAF6B7C-985D-4351-9564-8DBDF5BB0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88433F4-33AB-4CE1-9DE3-72A840365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185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1657BF2-BFFB-4FF0-9FE2-4D7F7A7C9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397171-E233-4F26-9A8C-29C436537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4393" y="237744"/>
            <a:ext cx="7652977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830B9C-C9EB-4D80-9552-AE9DE3075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53" y="374904"/>
            <a:ext cx="734015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F6702F-95EB-BDAF-FD07-89EBB049C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642593"/>
            <a:ext cx="6281928" cy="1744183"/>
          </a:xfrm>
        </p:spPr>
        <p:txBody>
          <a:bodyPr>
            <a:normAutofit/>
          </a:bodyPr>
          <a:lstStyle/>
          <a:p>
            <a:r>
              <a:rPr lang="en-IN" b="1"/>
              <a:t>Event Organizing: Attunement in Action</a:t>
            </a:r>
            <a:br>
              <a:rPr lang="en-IN" b="1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30F20-F77C-5FC0-8F62-3EEA4F18D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" y="2386584"/>
            <a:ext cx="6281928" cy="3648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1.Venue Booking : </a:t>
            </a:r>
            <a:r>
              <a:rPr lang="en-IN" dirty="0"/>
              <a:t>Persuade managers to provide flexible accommodations.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2. Vendor Negotiation: </a:t>
            </a:r>
            <a:r>
              <a:rPr lang="en-IN" dirty="0"/>
              <a:t>Convince vendors to offer discounts or special services.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3. Stakeholder Management: </a:t>
            </a:r>
            <a:r>
              <a:rPr lang="en-IN" dirty="0"/>
              <a:t>Understand priorities and find common ground for successful events.</a:t>
            </a:r>
          </a:p>
          <a:p>
            <a:pPr marL="0" indent="0">
              <a:buNone/>
            </a:pPr>
            <a:endParaRPr lang="en-IN" dirty="0"/>
          </a:p>
          <a:p>
            <a:pPr marL="342900" indent="-342900">
              <a:buAutoNum type="arabicPeriod"/>
            </a:pPr>
            <a:endParaRPr lang="en-IN" dirty="0"/>
          </a:p>
          <a:p>
            <a:endParaRPr lang="en-US" dirty="0"/>
          </a:p>
        </p:txBody>
      </p:sp>
      <p:pic>
        <p:nvPicPr>
          <p:cNvPr id="5" name="Picture 4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FD41AC49-7B2B-1A54-35C4-F1FE4A8F5B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93" r="3" b="3"/>
          <a:stretch/>
        </p:blipFill>
        <p:spPr>
          <a:xfrm>
            <a:off x="7837371" y="237744"/>
            <a:ext cx="4124416" cy="63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969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1657BF2-BFFB-4FF0-9FE2-4D7F7A7C9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25397171-E233-4F26-9A8C-29C436537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4393" y="237744"/>
            <a:ext cx="7652977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A830B9C-C9EB-4D80-9552-AE9DE3075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53" y="374904"/>
            <a:ext cx="734015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07E640-1F63-4710-0CED-754ED23D1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642593"/>
            <a:ext cx="6281928" cy="1744183"/>
          </a:xfrm>
        </p:spPr>
        <p:txBody>
          <a:bodyPr>
            <a:normAutofit/>
          </a:bodyPr>
          <a:lstStyle/>
          <a:p>
            <a:r>
              <a:rPr lang="en-IN" b="1" dirty="0"/>
              <a:t>Job Application Follow-Ups: Buoyancy at Work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BE784-D651-B990-4632-9478733A1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" y="2386584"/>
            <a:ext cx="6281928" cy="364845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/>
          </a:p>
          <a:p>
            <a:pPr>
              <a:lnSpc>
                <a:spcPct val="100000"/>
              </a:lnSpc>
            </a:pPr>
            <a:r>
              <a:rPr lang="en-IN" b="1" dirty="0"/>
              <a:t>Craft Follow-Ups : </a:t>
            </a:r>
            <a:r>
              <a:rPr lang="en-IN" dirty="0"/>
              <a:t>Write persuasive emails to hiring managers after on-campus job applications.</a:t>
            </a:r>
            <a:endParaRPr lang="en-IN"/>
          </a:p>
          <a:p>
            <a:pPr>
              <a:lnSpc>
                <a:spcPct val="100000"/>
              </a:lnSpc>
            </a:pPr>
            <a:endParaRPr lang="en-IN"/>
          </a:p>
          <a:p>
            <a:pPr marL="0" indent="0">
              <a:lnSpc>
                <a:spcPct val="100000"/>
              </a:lnSpc>
              <a:buNone/>
            </a:pPr>
            <a:endParaRPr lang="en-IN"/>
          </a:p>
          <a:p>
            <a:pPr>
              <a:lnSpc>
                <a:spcPct val="100000"/>
              </a:lnSpc>
            </a:pPr>
            <a:r>
              <a:rPr lang="en-IN" b="1" dirty="0"/>
              <a:t>Stay Resilient : </a:t>
            </a:r>
            <a:r>
              <a:rPr lang="en-IN" dirty="0"/>
              <a:t>Maintain positivity and persistence during periods of uncertainty.</a:t>
            </a:r>
            <a:endParaRPr lang="en-IN"/>
          </a:p>
          <a:p>
            <a:pPr marL="0" indent="0">
              <a:lnSpc>
                <a:spcPct val="100000"/>
              </a:lnSpc>
              <a:buNone/>
            </a:pPr>
            <a:endParaRPr lang="en-IN"/>
          </a:p>
          <a:p>
            <a:pPr marL="0" indent="0">
              <a:lnSpc>
                <a:spcPct val="100000"/>
              </a:lnSpc>
              <a:buNone/>
            </a:pPr>
            <a:endParaRPr lang="en-IN"/>
          </a:p>
          <a:p>
            <a:pPr>
              <a:lnSpc>
                <a:spcPct val="100000"/>
              </a:lnSpc>
            </a:pPr>
            <a:r>
              <a:rPr lang="en-IN" b="1" dirty="0"/>
              <a:t>Highlight Strengths : </a:t>
            </a:r>
            <a:r>
              <a:rPr lang="en-IN" dirty="0"/>
              <a:t>Effectively communicate your value as a candidate.</a:t>
            </a:r>
            <a:endParaRPr lang="en-IN"/>
          </a:p>
          <a:p>
            <a:pPr marL="0" indent="0">
              <a:lnSpc>
                <a:spcPct val="100000"/>
              </a:lnSpc>
              <a:buNone/>
            </a:pPr>
            <a:endParaRPr lang="en-IN"/>
          </a:p>
          <a:p>
            <a:pPr marL="0" indent="0">
              <a:lnSpc>
                <a:spcPct val="100000"/>
              </a:lnSpc>
              <a:buNone/>
            </a:pPr>
            <a:endParaRPr lang="en-US"/>
          </a:p>
        </p:txBody>
      </p:sp>
      <p:pic>
        <p:nvPicPr>
          <p:cNvPr id="1026" name="Picture 2" descr="You Can Win If Want Motivational Quotes | PSD Free Download - Pikbest">
            <a:extLst>
              <a:ext uri="{FF2B5EF4-FFF2-40B4-BE49-F238E27FC236}">
                <a16:creationId xmlns:a16="http://schemas.microsoft.com/office/drawing/2014/main" id="{FF024320-6B36-BFE0-DB47-30533EA09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54" r="19424" b="-2"/>
          <a:stretch/>
        </p:blipFill>
        <p:spPr bwMode="auto">
          <a:xfrm>
            <a:off x="7837371" y="237744"/>
            <a:ext cx="4124416" cy="6382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9085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EE7E08-B389-43E5-B019-1B0A8ACBB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and person sitting and talking&#10;&#10;Description automatically generated">
            <a:extLst>
              <a:ext uri="{FF2B5EF4-FFF2-40B4-BE49-F238E27FC236}">
                <a16:creationId xmlns:a16="http://schemas.microsoft.com/office/drawing/2014/main" id="{62DC59F9-DD3E-97C1-2356-83DD1F165E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537"/>
          <a:stretch/>
        </p:blipFill>
        <p:spPr>
          <a:xfrm>
            <a:off x="20" y="10"/>
            <a:ext cx="6392647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60D94A5-8A09-4BAB-8F7C-69BC34C54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21267" y="255102"/>
            <a:ext cx="5342133" cy="6361598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AE32B-3A6E-4C5E-8FEB-73861B9A2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9100" y="393365"/>
            <a:ext cx="5018211" cy="603554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E19020-F1DB-8BDD-1C09-ABCEFDB7E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4082" y="642594"/>
            <a:ext cx="4472921" cy="1371600"/>
          </a:xfrm>
        </p:spPr>
        <p:txBody>
          <a:bodyPr>
            <a:normAutofit/>
          </a:bodyPr>
          <a:lstStyle/>
          <a:p>
            <a:r>
              <a:rPr lang="en-IN" sz="3100" b="1"/>
              <a:t>Student Counseling: Clarity in Practice</a:t>
            </a:r>
            <a:br>
              <a:rPr lang="en-IN" sz="3100" b="1"/>
            </a:br>
            <a:endParaRPr lang="en-US" sz="3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3FD74-F1F2-8C76-36F0-13E976FEC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4082" y="2103120"/>
            <a:ext cx="4472922" cy="3931920"/>
          </a:xfrm>
        </p:spPr>
        <p:txBody>
          <a:bodyPr>
            <a:normAutofit/>
          </a:bodyPr>
          <a:lstStyle/>
          <a:p>
            <a:r>
              <a:rPr lang="en-IN" b="1" dirty="0"/>
              <a:t>Identify Challenges : </a:t>
            </a:r>
            <a:r>
              <a:rPr lang="en-IN" dirty="0"/>
              <a:t>Help students recognize their academic obstacles.</a:t>
            </a:r>
          </a:p>
          <a:p>
            <a:endParaRPr lang="en-IN" dirty="0"/>
          </a:p>
          <a:p>
            <a:r>
              <a:rPr lang="en-IN" b="1" dirty="0"/>
              <a:t>Guide Solutions : </a:t>
            </a:r>
            <a:r>
              <a:rPr lang="en-IN" dirty="0"/>
              <a:t>Provide actionable advice for improvement.</a:t>
            </a:r>
          </a:p>
          <a:p>
            <a:endParaRPr lang="en-IN" dirty="0"/>
          </a:p>
          <a:p>
            <a:r>
              <a:rPr lang="en-IN" b="1" dirty="0"/>
              <a:t>Influence Behaviour: </a:t>
            </a:r>
            <a:r>
              <a:rPr lang="en-IN" dirty="0"/>
              <a:t>Encourage positive changes in study habits and attitudes.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5878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AnalogousFromLightSeedRightStep">
      <a:dk1>
        <a:srgbClr val="000000"/>
      </a:dk1>
      <a:lt1>
        <a:srgbClr val="FFFFFF"/>
      </a:lt1>
      <a:dk2>
        <a:srgbClr val="3B3521"/>
      </a:dk2>
      <a:lt2>
        <a:srgbClr val="E2E6E8"/>
      </a:lt2>
      <a:accent1>
        <a:srgbClr val="BC9B84"/>
      </a:accent1>
      <a:accent2>
        <a:srgbClr val="ABA175"/>
      </a:accent2>
      <a:accent3>
        <a:srgbClr val="9BA57D"/>
      </a:accent3>
      <a:accent4>
        <a:srgbClr val="88AC75"/>
      </a:accent4>
      <a:accent5>
        <a:srgbClr val="81AC84"/>
      </a:accent5>
      <a:accent6>
        <a:srgbClr val="77AE92"/>
      </a:accent6>
      <a:hlink>
        <a:srgbClr val="5986A5"/>
      </a:hlink>
      <a:folHlink>
        <a:srgbClr val="7F7F7F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369</Words>
  <Application>Microsoft Macintosh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Avenir Next LT Pro</vt:lpstr>
      <vt:lpstr>Avenir Next LT Pro Light</vt:lpstr>
      <vt:lpstr>Garamond</vt:lpstr>
      <vt:lpstr>SavonVTI</vt:lpstr>
      <vt:lpstr>To Sell Is Human: The New ABCs of Moving Others </vt:lpstr>
      <vt:lpstr>About the Book</vt:lpstr>
      <vt:lpstr>Daniel H. Pink’s Background</vt:lpstr>
      <vt:lpstr>Why Follow Pink's Advice? </vt:lpstr>
      <vt:lpstr>Lessons Learned from the book</vt:lpstr>
      <vt:lpstr>We're All in Sales Now </vt:lpstr>
      <vt:lpstr>The New ABCs of Selling </vt:lpstr>
      <vt:lpstr>Real life experience-ABC’s Used</vt:lpstr>
      <vt:lpstr>Event Organizing: Attunement in Action </vt:lpstr>
      <vt:lpstr>Job Application Follow-Ups: Buoyancy at Work </vt:lpstr>
      <vt:lpstr>Student Counseling: Clarity in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Jagarapu, Durga Syam Kumar</dc:creator>
  <cp:lastModifiedBy>Jagarapu, Durga Syam Kumar</cp:lastModifiedBy>
  <cp:revision>1</cp:revision>
  <dcterms:created xsi:type="dcterms:W3CDTF">2024-10-10T23:41:23Z</dcterms:created>
  <dcterms:modified xsi:type="dcterms:W3CDTF">2024-10-11T00:43:35Z</dcterms:modified>
</cp:coreProperties>
</file>